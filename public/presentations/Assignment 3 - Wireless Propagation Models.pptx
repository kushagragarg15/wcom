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00503000000020004" pitchFamily="2" charset="0"/>
      <p:regular r:id=""/>
      <p:bold r:id=""/>
      <p:italic r:id=""/>
      <p:boldItalic r:id=""/>
    </p:embeddedFont>
    <p:embeddedFont>
      <p:font typeface="Lato" panose="020F0502020204030203" pitchFamily="34" charset="0"/>
      <p:regular r:id="rId14"/>
      <p:bold r:id="rId15"/>
      <p:italic r:id=""/>
      <p:boldItalic r:id=""/>
    </p:embeddedFont>
    <p:embeddedFont>
      <p:font typeface="Montserrat" panose="020F0502020204030204" pitchFamily="34" charset="0"/>
      <p:regular r:id=""/>
      <p:bold r:id=""/>
      <p:italic r:id="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11"/>
  </p:normalViewPr>
  <p:slideViewPr>
    <p:cSldViewPr snapToGrid="0">
      <p:cViewPr varScale="1">
        <p:scale>
          <a:sx n="109" d="100"/>
          <a:sy n="109" d="100"/>
        </p:scale>
        <p:origin x="5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8cff1a4c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8cff1a4c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33701"/>
            <a:ext cx="110490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571500" y="1847998"/>
            <a:ext cx="4352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WIRELESS COMMUNICATIONS • ASSIGNMENT 3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571500" y="2244179"/>
            <a:ext cx="5750718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Hata-Okumura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Two-Ray Models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571500" y="5248901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05325"/>
            <a:ext cx="15525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4575" y="4505325"/>
            <a:ext cx="17240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Introduction to Propagation Models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71500" y="14382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Propagation models are mathematical tools used to predict signal behavior as it travels from transmitter to receiver. They are crucial for: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571500" y="40481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assignment analyzes two distinct models: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657225" y="2543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762000" y="25431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Estimating coverage area for cellular networks.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657225" y="30003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762000" y="30003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Determining potential interference between stations.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657225" y="3457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762000" y="34575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Optimizing antenna placement and height.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47850"/>
            <a:ext cx="5238750" cy="61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2713" y="3902276"/>
            <a:ext cx="52387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Hata-Okumura Model: Theory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571500" y="18002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empirical model widely used for predicting path loss in cellular transmissions in urban and suburban areas. It is valid for frequencies from 150 MHz to 1500 MHz.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571500" y="30003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Key Parameters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38175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Mathematical Formulation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381750" y="2657921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Where constants A and B are derived from: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657225" y="3362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762000" y="33623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Frequency (MHz)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657225" y="38195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762000" y="38195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hb, hm: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 station &amp; mobile heights (m)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657225" y="4276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762000" y="42767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Distance (km)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Hata Model: Data Flow Diagram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Process Logic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28650" y="184785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762000" y="18478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Stage: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Accept system parameters (Frequency, Heights) and environment type.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590550" y="26479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762000" y="2647950"/>
            <a:ext cx="5048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Correction Factor: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Calculate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a_hm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based on the environment (Urban/Suburban) and frequency.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590550" y="34575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762000" y="34575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Compute base loss factors A and B.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590550" y="39528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762000" y="39528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Aggregation: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Combine factors with distance logarithm to find Path Loss (PL).</a:t>
            </a:r>
            <a:endParaRPr/>
          </a:p>
        </p:txBody>
      </p:sp>
      <p:pic>
        <p:nvPicPr>
          <p:cNvPr id="192" name="Google Shape;192;p16" title="WhatsApp Image 2025-11-23 at 2.39.51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2175" y="1749638"/>
            <a:ext cx="5500675" cy="335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6848475" y="2486025"/>
            <a:ext cx="22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Hata Model: Pseudo Code Explanation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Algorithm Steps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571500" y="18002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code implements a switch-case structure to handle different environmental scenarios.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571500" y="25622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Case 1 (Standard):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a generic correction factor suitable for typical urban settings.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571500" y="332422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Case 2 (Frequency Dependent):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Adjusts the correction factor calculation specifically for large cities, differentiating between frequencies above and below 200 MHz.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417225" y="1333475"/>
            <a:ext cx="5500800" cy="2095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hokumara_hata(fc, hm, hb, d, a_hm, C):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 = 69.55 + 26.16 * log10(fc)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- 13.82 * log10(hb)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- a_hm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 = 44.9 - 6.55 * log10(hb)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PL = A + B * log10(d) + C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PL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FUNCTION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92835"/>
            <a:ext cx="4953000" cy="868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800100" y="1396454"/>
            <a:ext cx="49606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Hata Model Results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571500" y="1396454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71500" y="226322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simulation plots Path Loss (dB) against Distance (km).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571500" y="3025229"/>
            <a:ext cx="4953000" cy="1224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Observation: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 distance increases from 0 to 20 km, the path loss increases logarithmically. This behavior is consistent with the term   B  *   log   10   (  d  )   in the equation.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90575" y="4783335"/>
            <a:ext cx="45434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Note: The varying correction factors (a_hm) shift the curve vertically but do not change the logarithmic slope significantly.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2209850" y="4982775"/>
            <a:ext cx="914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5814663" y="512175"/>
            <a:ext cx="5914500" cy="625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/>
              <a:t>Plot (n=1):</a:t>
            </a:r>
            <a:endParaRPr sz="24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9" name="Google Shape;21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2163" y="1181100"/>
            <a:ext cx="4960626" cy="20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0125" y="3864913"/>
            <a:ext cx="4864728" cy="23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5980125" y="3242675"/>
            <a:ext cx="229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/>
              <a:t>Plot (n=2):</a:t>
            </a:r>
            <a:endParaRPr sz="24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47850"/>
            <a:ext cx="5238750" cy="77718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Two-Ray Ground Reflection: Theory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571500" y="18002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deterministic model that considers both the direct Line-of-Sight (LOS) path and a single ground reflection path between transmitter and receiver.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571500" y="28670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more accurate than Free Space models for long distances where ground reflections cause signal cancellation.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38175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E-Field Calculation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381750" y="2815530"/>
            <a:ext cx="52387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 = Direct distance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x' = Reflected distance (x_bar)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Γ = Reflection coefficient (-1 for ground)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Two-Ray Model: Data Flow Diagram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Process Logic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28650" y="184785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762000" y="1847850"/>
            <a:ext cx="50482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Geometry Setup: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Calculate the hypotenuse for both the direct path (</a:t>
            </a:r>
            <a:r>
              <a:rPr lang="en-US" sz="1500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and the ground reflection path (</a:t>
            </a:r>
            <a:r>
              <a:rPr lang="en-US" sz="1500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x_bar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590550" y="29718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762000" y="29718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Phase Calculation: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Compute the phase shift   exp  (  -  j  k  x  )   for both paths based on wavenumber   k  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590550" y="37719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62000" y="37719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Superposition: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Sum the electric fields, accounting for the reflection coefficient   Γ  =  -1  .</a:t>
            </a:r>
            <a:endParaRPr/>
          </a:p>
        </p:txBody>
      </p:sp>
      <p:pic>
        <p:nvPicPr>
          <p:cNvPr id="249" name="Google Shape;249;p20" title="Screenshot 2025-11-23 at 2.47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1103" y="0"/>
            <a:ext cx="358552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800100" y="571500"/>
            <a:ext cx="113614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Two-Ray Model: Pseudo Code Explanation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71500" y="1438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Algorithm Steps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71500" y="18002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Power Conversion: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Convert Transmit Power from dBm to Watts for linear calculation.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71500" y="2562225"/>
            <a:ext cx="523875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Vector Summation: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core of the simulation is summing the complex E-fields. Note the constructive and destructive interference patterns caused by the phase difference between x and x_bar.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39433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Convert the received power back to dBm for plotting.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304350" y="1232300"/>
            <a:ext cx="5857200" cy="562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Start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Pt_dBm = 0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Convert Pt_dBm to linear Pt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Gt = 1, Gr = 1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f = 900 MHz, ht = 50 m, hr = 2 m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Compute lambda = c/f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Compute k = 2π/lambda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Gamma = -1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distance range d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Compute x  = sqrt(d^2 + (ht - hr)^2)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Compute xR = sqrt(d^2 + (ht + hr)^2)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Compute field: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 = (lambda/4π) * [exp(-j*k*x)/x + Gamma*exp(-j*k*xR)/xR]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Compute power: Pr = Pt*Gt*Gr*|E|²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Convert to dBm: Pr_dB = 10*log10(Pr/1mW)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Plot distance vs Pr_dB on semilog scale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End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/>
        </p:nvSpPr>
        <p:spPr>
          <a:xfrm>
            <a:off x="869150" y="377100"/>
            <a:ext cx="7993500" cy="6480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Start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carrier frequency fc = 200 MHz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base station height hb = 70 m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mobile height hm = 1.5 m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 distance range d from 0.1 km to 20 km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Ask user to input a number n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Switch based on value of n: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Case 1: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Compute a_hm using urban area formula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Compute C for medium-sized city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Call hokumara_hata() to get path loss PL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Case 2: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If fc &lt;= 200: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Compute a_hm for small-to-medium city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Else: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Compute a_hm for larger cities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Set C = 0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Call hokumara_hata() to get PL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End Switch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Plot distance vs. path loss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Label x-axis as distance (km)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Label y-axis as path loss (dB)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Enable grid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End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800100" y="804862"/>
            <a:ext cx="49606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Two-Ray Results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571500" y="804862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571500" y="16716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plot displays Received Power (dBm) vs Distance (m) on a logarithmic scale.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571500" y="2624137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Critical Region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571500" y="2871787"/>
            <a:ext cx="4953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Notice the oscillations at shorter distances (the "break point"). This is due to the rapid phase changing between the direct and reflected rays causing alternating constructive and destructive interference.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571500" y="4738687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Far Field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71500" y="4986337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Beyond the critical distance, the signal decays at a rate of 40 dB/decade (d^{-4}), which is faster than free space (d^{-2}).</a:t>
            </a:r>
            <a:endParaRPr dirty="0"/>
          </a:p>
        </p:txBody>
      </p:sp>
      <p:pic>
        <p:nvPicPr>
          <p:cNvPr id="280" name="Google Shape;28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1410900"/>
            <a:ext cx="6272200" cy="43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Microsoft Macintosh PowerPoint</Application>
  <PresentationFormat>Widescreen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</vt:lpstr>
      <vt:lpstr>Calibri</vt:lpstr>
      <vt:lpstr>Lato</vt:lpstr>
      <vt:lpstr>Inter</vt:lpstr>
      <vt:lpstr>Arial</vt:lpstr>
      <vt:lpstr>Focus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LAHAR  JOSHI</cp:lastModifiedBy>
  <cp:revision>1</cp:revision>
  <dcterms:modified xsi:type="dcterms:W3CDTF">2025-11-23T09:47:12Z</dcterms:modified>
</cp:coreProperties>
</file>