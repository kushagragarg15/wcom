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embeddedFontLs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JetBrains Mono" panose="02000009000000000000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5"/>
  </p:normalViewPr>
  <p:slideViewPr>
    <p:cSldViewPr snapToGrid="0">
      <p:cViewPr varScale="1">
        <p:scale>
          <a:sx n="115" d="100"/>
          <a:sy n="115" d="100"/>
        </p:scale>
        <p:origin x="37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47998"/>
            <a:ext cx="4362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WIRELESS COMMUNICATIONS • ASSIGNMENT 4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244179"/>
            <a:ext cx="5530691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Rician Fading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Jakes Spectrum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47850"/>
            <a:ext cx="5238750" cy="126489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1. Rician Flat-Fading Model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What is it?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8002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Rician fading occurs when there is a dominant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Line-of-Sight (LOS)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component alongside multipath scattering. It is common in satellite links or open environments.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35875" y="3198975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The K-Factor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47925" y="3595688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ratio of LOS power to scattered power.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Envelope Calculation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381750" y="330324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received envelope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magnitude of this complex signal.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7225" y="3899313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75" y="412432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 = 0: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 LOS. Reduces to Rayleigh Fading.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7225" y="4276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449915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 = ∞: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Pure LOS. No Fading (Gaussian channel).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10350" y="2038350"/>
            <a:ext cx="4819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 = (g1 + g2•X) + j(g1 + g2•Y)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10350" y="2495550"/>
            <a:ext cx="4819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X, Y are Gaussian Random Variables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" y="5191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1228511"/>
            <a:ext cx="1714500" cy="826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472" y="2666001"/>
            <a:ext cx="17145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9225" y="3791554"/>
            <a:ext cx="1714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19322" y="3825448"/>
            <a:ext cx="19050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90981" y="3772595"/>
            <a:ext cx="19431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77424" y="2188353"/>
            <a:ext cx="14287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77424" y="2963466"/>
            <a:ext cx="14287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64784" y="3357788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82346" y="220264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610625" y="41005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50595" y="4109628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1200150" y="1641654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[0, 3, 7, 12, 15]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1125146" y="424837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Gaussian X, Y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3365683" y="4257064"/>
            <a:ext cx="7239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 = |Signal|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5299919" y="4242920"/>
            <a:ext cx="1428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Compare with Theory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Data Flow: Rician Simulation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4A86A1F1-3BF2-EE98-2330-AE6152103B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1578" y="92398"/>
            <a:ext cx="4689942" cy="67136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 Code: Rician Fading</a:t>
            </a:r>
            <a:endParaRPr dirty="0"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822363" y="1425925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Humanized Explanation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22775" y="1823150"/>
            <a:ext cx="52389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Why calculate g1 &amp; g2?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total energy must remain 1. As 'K' increases, we allocate more energy to the direct path (g1) and less to the scattered path (g2).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953250" y="3429000"/>
            <a:ext cx="52389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'Loop' Logic: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repeat the experiment for different K values to visualize how the probability density function (PDF) shifts shape.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256488" y="1199205"/>
            <a:ext cx="5886440" cy="5516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START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SET </a:t>
            </a:r>
            <a:r>
              <a:rPr lang="en-US" sz="1050" dirty="0" err="1"/>
              <a:t>K_values</a:t>
            </a:r>
            <a:r>
              <a:rPr lang="en-US" sz="1050" dirty="0"/>
              <a:t> = [0, 3, 7, 12, 15]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SET N = 100000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SET Omega = 1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SET </a:t>
            </a:r>
            <a:r>
              <a:rPr lang="en-US" sz="1050" dirty="0" err="1"/>
              <a:t>r_axis</a:t>
            </a:r>
            <a:r>
              <a:rPr lang="en-US" sz="1050" dirty="0"/>
              <a:t> = </a:t>
            </a:r>
            <a:r>
              <a:rPr lang="en-US" sz="1050" dirty="0" err="1"/>
              <a:t>linspace</a:t>
            </a:r>
            <a:r>
              <a:rPr lang="en-US" sz="1050" dirty="0"/>
              <a:t>(0, 3)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FOR each K in </a:t>
            </a:r>
            <a:r>
              <a:rPr lang="en-US" sz="1050" dirty="0" err="1"/>
              <a:t>K_values</a:t>
            </a:r>
            <a:r>
              <a:rPr lang="en-US" sz="1050" dirty="0"/>
              <a:t>: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COMPUTE g1 = sqrt( K / (2 * (K + 1)) )         // LOS component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COMPUTE g2 = sqrt( 1 / (2 * (K + 1)) )         // Scattered component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GENERATE X = random Gaussian samples of size N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GENERATE Y = random Gaussian samples of size N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// Generate Rician envelope (practical)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COMPUTE r = sqrt( (g1 + g2*X)^2 + (g1 + g2*Y)^2 )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// Compute theoretical PDF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FOR each value in </a:t>
            </a:r>
            <a:r>
              <a:rPr lang="en-US" sz="1050" dirty="0" err="1"/>
              <a:t>r_axis</a:t>
            </a:r>
            <a:r>
              <a:rPr lang="en-US" sz="1050" dirty="0"/>
              <a:t>: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    COMPUTE pdf = (2*(K+1)/Omega) * </a:t>
            </a:r>
            <a:r>
              <a:rPr lang="en-US" sz="1050" dirty="0" err="1"/>
              <a:t>r_axis</a:t>
            </a:r>
            <a:r>
              <a:rPr lang="en-US" sz="1050" dirty="0"/>
              <a:t> *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                  exp( -(K+1)/Omega * r_axis^2 - K ) *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                  BesselI0( 2 * </a:t>
            </a:r>
            <a:r>
              <a:rPr lang="en-US" sz="1050" dirty="0" err="1"/>
              <a:t>r_axis</a:t>
            </a:r>
            <a:r>
              <a:rPr lang="en-US" sz="1050" dirty="0"/>
              <a:t> * sqrt(K*(K+1)) / Omega )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END FOR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PLOT histogram of r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OVERLAY theoretical PDF curve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END FOR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END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Rician Simulation Results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Key Observations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6725" y="18478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18478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 = 0 (Rayleigh):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graph is skewed left. It has no dominant component.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66725" y="26098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26098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 = 7 to 15: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 K increases, the graph becomes a symmetrical "bell curve" (Gaussian).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6725" y="33718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33718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Shift: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peak moves to the right (around 1.0) as the signal becomes stable and less random.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8F862A-D920-5066-76EE-051013018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49" y="1057275"/>
            <a:ext cx="5343525" cy="44884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2540" y="1381274"/>
            <a:ext cx="5238750" cy="142458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2. Jakes Spectrum &amp; Autocorrelation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18002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When a receiver moves through a multipath environment, the received frequency shifts due to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Doppler Effect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28670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Jakes model describes the power spectral density (PSD) of this fading channel.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37623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The "U" Shape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41243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PSD is maximum at   ±   f   max    (moving directly towards/away from the source) and minimum at   0   Hz (moving perpendicular).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610350" y="1819275"/>
            <a:ext cx="4819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Spectral Density S(f):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59;p18" descr="image.png">
            <a:extLst>
              <a:ext uri="{FF2B5EF4-FFF2-40B4-BE49-F238E27FC236}">
                <a16:creationId xmlns:a16="http://schemas.microsoft.com/office/drawing/2014/main" id="{F5BB85FE-D04A-587F-283B-71294CD103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B28A48-37DC-A0B7-4AFB-966319DDC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180" y="55756"/>
            <a:ext cx="5343639" cy="674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00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52387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809625" y="1695450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7F84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1. Define Frequency Range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495425" y="1924050"/>
            <a:ext cx="2228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7F84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Go slightly beyond fmax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09625" y="1924050"/>
            <a:ext cx="46291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7F84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2. Calculate PSD (The U-Shape)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2009775" y="215265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EACH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2952750" y="21526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3895725" y="21526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09625" y="2381250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7F84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Apply Jakes Formula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4410075" y="2609850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81075" y="2838450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 IF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581150" y="283845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 LOOP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2352675" y="2838450"/>
            <a:ext cx="2657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7F84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3. Calculate Autocorrelation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09625" y="2838450"/>
            <a:ext cx="44577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7F84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Theoretical formula using Bessel Function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 Code: Jakes Spectrum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38175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Logic Explanation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381750" y="1847850"/>
            <a:ext cx="52387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Mask: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the code, we use a condition abs(f) &lt; fmax. This is because the signal only exists within the Doppler shift limits. Outside this range, the power is zero.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381750" y="3218973"/>
            <a:ext cx="52387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Autocorrelation: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code uses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besselj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(0, ...). This mathematical function perfectly describes how the correlation of the signal ripples and fades over time delay (tau).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356FD1-4BBC-C4F5-0824-6B3A5347FE54}"/>
              </a:ext>
            </a:extLst>
          </p:cNvPr>
          <p:cNvSpPr txBox="1"/>
          <p:nvPr/>
        </p:nvSpPr>
        <p:spPr>
          <a:xfrm>
            <a:off x="628650" y="1438275"/>
            <a:ext cx="5238750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START</a:t>
            </a:r>
          </a:p>
          <a:p>
            <a:endParaRPr lang="en-US" sz="900" dirty="0"/>
          </a:p>
          <a:p>
            <a:r>
              <a:rPr lang="en-US" sz="900" dirty="0"/>
              <a:t>SET fmax = 100</a:t>
            </a:r>
          </a:p>
          <a:p>
            <a:r>
              <a:rPr lang="en-US" sz="900" dirty="0"/>
              <a:t>SET sigma2 = 1</a:t>
            </a:r>
          </a:p>
          <a:p>
            <a:endParaRPr lang="en-US" sz="900" dirty="0"/>
          </a:p>
          <a:p>
            <a:r>
              <a:rPr lang="en-US" sz="900" dirty="0"/>
              <a:t>// Frequency axis</a:t>
            </a:r>
          </a:p>
          <a:p>
            <a:r>
              <a:rPr lang="en-US" sz="900" dirty="0"/>
              <a:t>SET f = </a:t>
            </a:r>
            <a:r>
              <a:rPr lang="en-US" sz="900" dirty="0" err="1"/>
              <a:t>linspace</a:t>
            </a:r>
            <a:r>
              <a:rPr lang="en-US" sz="900" dirty="0"/>
              <a:t>( -1.2*fmax , 1.2*fmax )</a:t>
            </a:r>
          </a:p>
          <a:p>
            <a:endParaRPr lang="en-US" sz="900" dirty="0"/>
          </a:p>
          <a:p>
            <a:r>
              <a:rPr lang="en-US" sz="900" dirty="0"/>
              <a:t>INITIALIZE PSD array S of same size as f</a:t>
            </a:r>
          </a:p>
          <a:p>
            <a:endParaRPr lang="en-US" sz="900" dirty="0"/>
          </a:p>
          <a:p>
            <a:r>
              <a:rPr lang="en-US" sz="900" dirty="0"/>
              <a:t>FOR each frequency value </a:t>
            </a:r>
            <a:r>
              <a:rPr lang="en-US" sz="900" dirty="0" err="1"/>
              <a:t>f_i</a:t>
            </a:r>
            <a:r>
              <a:rPr lang="en-US" sz="900" dirty="0"/>
              <a:t> in f:</a:t>
            </a:r>
          </a:p>
          <a:p>
            <a:endParaRPr lang="en-US" sz="900" dirty="0"/>
          </a:p>
          <a:p>
            <a:r>
              <a:rPr lang="en-US" sz="900" dirty="0"/>
              <a:t>    IF |</a:t>
            </a:r>
            <a:r>
              <a:rPr lang="en-US" sz="900" dirty="0" err="1"/>
              <a:t>f_i</a:t>
            </a:r>
            <a:r>
              <a:rPr lang="en-US" sz="900" dirty="0"/>
              <a:t>| &lt; fmax THEN</a:t>
            </a:r>
          </a:p>
          <a:p>
            <a:r>
              <a:rPr lang="en-US" sz="900" dirty="0"/>
              <a:t>        COMPUTE S[</a:t>
            </a:r>
            <a:r>
              <a:rPr lang="en-US" sz="900" dirty="0" err="1"/>
              <a:t>i</a:t>
            </a:r>
            <a:r>
              <a:rPr lang="en-US" sz="900" dirty="0"/>
              <a:t>] = sigma2 / ( pi * fmax * sqrt( 1 - (</a:t>
            </a:r>
            <a:r>
              <a:rPr lang="en-US" sz="900" dirty="0" err="1"/>
              <a:t>f_i</a:t>
            </a:r>
            <a:r>
              <a:rPr lang="en-US" sz="900" dirty="0"/>
              <a:t>/fmax)^2 ) )</a:t>
            </a:r>
          </a:p>
          <a:p>
            <a:r>
              <a:rPr lang="en-US" sz="900" dirty="0"/>
              <a:t>    ELSE</a:t>
            </a:r>
          </a:p>
          <a:p>
            <a:r>
              <a:rPr lang="en-US" sz="900" dirty="0"/>
              <a:t>        SET S[</a:t>
            </a:r>
            <a:r>
              <a:rPr lang="en-US" sz="900" dirty="0" err="1"/>
              <a:t>i</a:t>
            </a:r>
            <a:r>
              <a:rPr lang="en-US" sz="900" dirty="0"/>
              <a:t>] = 0</a:t>
            </a:r>
          </a:p>
          <a:p>
            <a:r>
              <a:rPr lang="en-US" sz="900" dirty="0"/>
              <a:t>    END IF</a:t>
            </a:r>
          </a:p>
          <a:p>
            <a:endParaRPr lang="en-US" sz="900" dirty="0"/>
          </a:p>
          <a:p>
            <a:r>
              <a:rPr lang="en-US" sz="900" dirty="0"/>
              <a:t>END FOR</a:t>
            </a:r>
          </a:p>
          <a:p>
            <a:endParaRPr lang="en-US" sz="900" dirty="0"/>
          </a:p>
          <a:p>
            <a:r>
              <a:rPr lang="en-US" sz="900" dirty="0"/>
              <a:t>PLOT S vs f  // Jakes Doppler spectrum</a:t>
            </a:r>
          </a:p>
          <a:p>
            <a:endParaRPr lang="en-US" sz="900" dirty="0"/>
          </a:p>
          <a:p>
            <a:r>
              <a:rPr lang="en-US" sz="900" dirty="0"/>
              <a:t>// Autocorrelation function</a:t>
            </a:r>
          </a:p>
          <a:p>
            <a:r>
              <a:rPr lang="en-US" sz="900" dirty="0"/>
              <a:t>SET tau = </a:t>
            </a:r>
            <a:r>
              <a:rPr lang="en-US" sz="900" dirty="0" err="1"/>
              <a:t>linspace</a:t>
            </a:r>
            <a:r>
              <a:rPr lang="en-US" sz="900" dirty="0"/>
              <a:t>( -0.05 , 0.05 )</a:t>
            </a:r>
          </a:p>
          <a:p>
            <a:endParaRPr lang="en-US" sz="900" dirty="0"/>
          </a:p>
          <a:p>
            <a:r>
              <a:rPr lang="en-US" sz="900" dirty="0"/>
              <a:t>FOR each </a:t>
            </a:r>
            <a:r>
              <a:rPr lang="en-US" sz="900" dirty="0" err="1"/>
              <a:t>tau_i</a:t>
            </a:r>
            <a:r>
              <a:rPr lang="en-US" sz="900" dirty="0"/>
              <a:t> in tau:</a:t>
            </a:r>
          </a:p>
          <a:p>
            <a:r>
              <a:rPr lang="en-US" sz="900" dirty="0"/>
              <a:t>    COMPUTE R[</a:t>
            </a:r>
            <a:r>
              <a:rPr lang="en-US" sz="900" dirty="0" err="1"/>
              <a:t>i</a:t>
            </a:r>
            <a:r>
              <a:rPr lang="en-US" sz="900" dirty="0"/>
              <a:t>] = sigma2 * BesselJ0( 2 * pi * fmax * </a:t>
            </a:r>
            <a:r>
              <a:rPr lang="en-US" sz="900" dirty="0" err="1"/>
              <a:t>tau_i</a:t>
            </a:r>
            <a:r>
              <a:rPr lang="en-US" sz="900" dirty="0"/>
              <a:t> )</a:t>
            </a:r>
          </a:p>
          <a:p>
            <a:r>
              <a:rPr lang="en-US" sz="900" dirty="0"/>
              <a:t>END FOR</a:t>
            </a:r>
          </a:p>
          <a:p>
            <a:endParaRPr lang="en-US" sz="900" dirty="0"/>
          </a:p>
          <a:p>
            <a:r>
              <a:rPr lang="en-US" sz="900" dirty="0"/>
              <a:t>PLOT R vs tau  // Jakes autocorrelation function</a:t>
            </a:r>
          </a:p>
          <a:p>
            <a:endParaRPr lang="en-US" sz="900" dirty="0"/>
          </a:p>
          <a:p>
            <a:r>
              <a:rPr lang="en-US" sz="900" dirty="0"/>
              <a:t>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480" y="-8944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Jakes Model Results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835785" y="2037396"/>
            <a:ext cx="23002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Power Spectral Density</a:t>
            </a:r>
            <a:endParaRPr dirty="0"/>
          </a:p>
        </p:txBody>
      </p:sp>
      <p:sp>
        <p:nvSpPr>
          <p:cNvPr id="202" name="Google Shape;202;p20"/>
          <p:cNvSpPr txBox="1"/>
          <p:nvPr/>
        </p:nvSpPr>
        <p:spPr>
          <a:xfrm>
            <a:off x="2423487" y="2521320"/>
            <a:ext cx="3000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Sharp peaks at edges (-100, 100 Hz).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This is the classic "Bathtub" or "U" shape.</a:t>
            </a:r>
            <a:endParaRPr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2798027" y="4261356"/>
            <a:ext cx="205025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Autocorrelation R(</a:t>
            </a:r>
            <a:r>
              <a:rPr lang="en-US" sz="1404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τ</a:t>
            </a:r>
            <a:r>
              <a:rPr lang="en-US" sz="1404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2346780" y="4847970"/>
            <a:ext cx="2952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Bessel function (Sinc-like).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Shows how quickly the channel changes.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B04FC2-2E99-652B-AEE5-270DD68E1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514" y="754991"/>
            <a:ext cx="3465706" cy="55315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5475" y="2433637"/>
            <a:ext cx="3810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6525" y="2433637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6086475" y="2909887"/>
            <a:ext cx="19050" cy="190500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2152650" y="3080444"/>
            <a:ext cx="34604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Rician Fading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2152650" y="3394769"/>
            <a:ext cx="32956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Models environments with a clear Line-of-Sight. The K-factor determines if the channel behaves like Rayleigh (Chaotic) or Gaussian (Stable).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743700" y="3080444"/>
            <a:ext cx="34604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Jakes Spectrum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743700" y="3394769"/>
            <a:ext cx="32956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Models the frequency shift caused by motion. The U-shaped PSD proves that most energy arrives at the maximum Doppler shift.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Microsoft Macintosh PowerPoint</Application>
  <PresentationFormat>Widescreen</PresentationFormat>
  <Paragraphs>129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JetBrains Mono</vt:lpstr>
      <vt:lpstr>Calibri</vt:lpstr>
      <vt:lpstr>Inter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LAHAR  JOSHI</cp:lastModifiedBy>
  <cp:revision>1</cp:revision>
  <dcterms:modified xsi:type="dcterms:W3CDTF">2025-11-22T17:52:59Z</dcterms:modified>
</cp:coreProperties>
</file>