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Inter"/>
      <p:regular r:id="rId16"/>
      <p:bold r:id="rId17"/>
      <p:italic r:id="rId18"/>
      <p:boldItalic r:id="rId19"/>
    </p:embeddedFont>
    <p:embeddedFont>
      <p:font typeface="Fira Code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Cod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FiraCode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Italic.fntdata"/><Relationship Id="rId6" Type="http://schemas.openxmlformats.org/officeDocument/2006/relationships/slide" Target="slides/slide1.xml"/><Relationship Id="rId18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195887" y="1715541"/>
            <a:ext cx="1800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ASSIGNMENT 10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165508" y="2163216"/>
            <a:ext cx="7860982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Alamouti Coding Scheme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Implementation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71500" y="20383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Wireless channels suffer from multipath fading, which degrades signal reliability.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571500" y="27908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Challenge: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09625" y="32385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How to achieve Transmit Diversity without increasing bandwidth or requiring feedback from the receiver?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09625" y="399097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Implement and verify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Alamouti Space-Time Block Code (STBC)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2 Transmit and 1 Receive antenna (2x1).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09625" y="50482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Compare its performance against standard MISO transmission.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19087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3943350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500062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809625" y="330041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Develop MATLAB code for Alamouti STBC.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09625" y="3786187"/>
            <a:ext cx="5048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Implement modulation schemes: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572250" y="330041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Simulate over a Rayleigh Fading Channel.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572250" y="374808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Plot Bit Error Rate (BER) vs SNR (0-20 dB).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572250" y="41957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Compare STBC 2x1 performance with standard MISO 2x1.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325278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3700462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334125" y="325278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334125" y="3700462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334125" y="414813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47750" y="4052887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BPSK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(Binary Phase Shift Keying)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047750" y="4500562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QPSK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(Quadrature Phase Shift Keying)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09625" y="4005262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09625" y="445293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Objectives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289083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1. Implementation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334125" y="289083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2. Analysis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System Architecture: Alamouti 2x1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2467650"/>
            <a:ext cx="8723049" cy="319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1868583"/>
            <a:ext cx="555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Space-Time Coding Matrix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3950" y="3595687"/>
            <a:ext cx="19050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81400" y="3500437"/>
            <a:ext cx="20955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29350" y="3595687"/>
            <a:ext cx="23812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63050" y="3690937"/>
            <a:ext cx="19050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19450" y="38242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38242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01100" y="3824287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1376362" y="3938587"/>
            <a:ext cx="14001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(Random Generation)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4081462" y="3843337"/>
            <a:ext cx="10953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(Alamouti Matrix Construction)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557962" y="3938587"/>
            <a:ext cx="17240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(Rayleigh Fading + AWGN)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Data Flow Diagram (DFD)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19030950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4. Combining Scheme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27432000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5. Decoding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572250" y="2900362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Symbol Pair: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Takes two symbols (s_1, s_2) at a time.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572250" y="3348037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Orthogonality: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received signals r_1 and r_2 are linear combinations of transmitted symbols.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572250" y="4100512"/>
            <a:ext cx="5048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Decoupling: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By using the channel estimates (h_1, h_2), we can perfectly separate s_1 and s_2 without interference.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334125" y="285273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334125" y="3300412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334125" y="405288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00075" y="289675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Pseudocode: BPSK Implementation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6334125" y="268128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Explanation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444400" y="898750"/>
            <a:ext cx="5409000" cy="5661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Initialize N bits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 bits → BPSK symbols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 symbols into s1, s2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 Alamouti matrix 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SNR: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Compute noise variance N0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Generate Rayleigh channels h1, h2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Generate noise n1, n2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% ----- STBC Transmission -----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r1 = h1*s1 − h2*conj(s2) + n1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r2 = h1*s2 + h2*conj(s1) + n2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Decode: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s1_hat = (h1*conj(r1) + h2*conj(r2)) / (|h1|² + |h2|²)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s2_hat = (-h2*conj(r1) + h1*conj(r2)) / (|h1|² + |h2|²)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Decide bits and compute BER_STBC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% ----- MISO (2 Tx, no STBC) -----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Generate h1m, h2m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 = (h1m + h2m)*s + 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s_hat = r / (h1m + h2m)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Detect bits and compute BER_MISO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444400" y="909600"/>
            <a:ext cx="4728600" cy="504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BPSK STBC vs MISO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14658975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3. Decoding (Real &amp; Imaginary)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26746200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4. Bit Reconstruction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572250" y="29003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Complex Symbols: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QPSK carries 2 bits per symbol (In-phase and Quadrature).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572250" y="3652837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Normalization: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Power is normalized by sqrt{2}.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572250" y="410051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Detection: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Since QPSK uses both real and imaginary axes, threshold detection is applied to both components independently.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334125" y="285273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334125" y="3605212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334125" y="405288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Pseudocode: QPSK Implementation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6334125" y="268128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Explanation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316275" y="1133600"/>
            <a:ext cx="5652300" cy="5448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Initialize N bits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bits → I,Q → QPSK symbols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 symbols into s1, s2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 Alamouti STBC matrix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SNR: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Compute noise power N0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Generate channels h1, h2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Generate noise n1, n2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% ----- STBC Transmission -----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r1 = h1*s1 + h2*s2 + n1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r2 = -h1*conj(s2) + h2*conj(s1) + n2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Decode: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s1_hat = (conj(h1)*r1 + h2*conj(r2)) / (|h1|² + |h2|²)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s2_hat = (conj(h2)*r1 - h1*conj(r2)) / (|h1|² + |h2|²)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Recover bits and compute BER_STBC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% ----- MISO (No STBC) -----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Generate h1m, h2m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 = (h1m + h2m)*s + noise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s_hat = r / (h1m + h2m)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Detect I,Q bits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Compute BER_MISO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410200" y="1247775"/>
            <a:ext cx="3867300" cy="504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QPSK STBC vs MISO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950" y="571500"/>
            <a:ext cx="11049000" cy="605790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Process Workflow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20"/>
          <p:cNvCxnSpPr/>
          <p:nvPr/>
        </p:nvCxnSpPr>
        <p:spPr>
          <a:xfrm>
            <a:off x="6079525" y="2187150"/>
            <a:ext cx="37200" cy="23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20"/>
          <p:cNvCxnSpPr/>
          <p:nvPr/>
        </p:nvCxnSpPr>
        <p:spPr>
          <a:xfrm>
            <a:off x="6141300" y="2298350"/>
            <a:ext cx="12300" cy="229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20"/>
          <p:cNvCxnSpPr/>
          <p:nvPr/>
        </p:nvCxnSpPr>
        <p:spPr>
          <a:xfrm>
            <a:off x="5968325" y="3052125"/>
            <a:ext cx="24600" cy="44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809625" y="305276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STBC 2x1 (Alamouti):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Shows significant improvement in BER at higher SNR values compared to the standard MISO channel.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809625" y="411003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diversity gain effectively steepens the BER slope.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809625" y="4557712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At 10dB SNR, BER drops to approx 10^{-3}.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571500" y="300513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571500" y="4062412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451008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Results: BPSK Performance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571500" y="283368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Observation</a:t>
            </a:r>
            <a:endParaRPr/>
          </a:p>
        </p:txBody>
      </p:sp>
      <p:pic>
        <p:nvPicPr>
          <p:cNvPr id="212" name="Google Shape;21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2200" y="1928350"/>
            <a:ext cx="6005526" cy="364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809625" y="234315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Similar diversity gain trends observed as BPSK.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809625" y="279082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However, QPSK requires higher SNR (~3dB more) to achieve the same BER as BPSK due to denser constellation.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809625" y="42100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Alamouti scheme successfully provides full spatial diversity order of 2 for 2 transmit antennas.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809625" y="49625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mitigates fading effects without bandwidth expansion.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571500" y="229552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571500" y="2743200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571500" y="416242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571500" y="4914900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Results: QPSK &amp; Conclusion</a:t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571500" y="212407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QPSK Analysis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571500" y="399097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/>
          </a:p>
        </p:txBody>
      </p:sp>
      <p:pic>
        <p:nvPicPr>
          <p:cNvPr id="230" name="Google Shape;2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2650" y="2041725"/>
            <a:ext cx="6096351" cy="3715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