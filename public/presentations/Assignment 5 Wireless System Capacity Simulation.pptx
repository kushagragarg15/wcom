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Fira Code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7403AD-6050-4A34-94DD-E68790E41904}">
  <a:tblStyle styleId="{527403AD-6050-4A34-94DD-E68790E419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Code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FiraCod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8f23ef793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8f23ef793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d2cbc01d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8d2cbc01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0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300" y="4075658"/>
            <a:ext cx="66294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5262562" y="1715541"/>
            <a:ext cx="1666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ASSIGNMENT 5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2010489" y="2163216"/>
            <a:ext cx="8171021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Wireless System Capacity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&amp; Fading Simulation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571500" y="21097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modern wireless communications, signal quality fluctuates due to environmental factors. The core challenge is to accurately model: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809625" y="3167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Loss &amp; Shadowing: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Signal degradation over distance.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809625" y="39195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Multipath Fading: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Rapid fluctuations (Rayleigh fading) affecting signal strength.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09625" y="46720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Capacity Estimation: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Calculating the maximum data rate (Shannon Capacity) under these varying conditions.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571500" y="31194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571500" y="38719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71500" y="46243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1391"/>
            <a:ext cx="3492400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01391"/>
            <a:ext cx="3492549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01391"/>
            <a:ext cx="3492400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3387" y="304904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819150" y="3915816"/>
            <a:ext cx="29971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a circular field with randomly distributed users relative to a Base Station.</a:t>
            </a:r>
            <a:endParaRPr/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2976" y="3049041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4597300" y="3915816"/>
            <a:ext cx="29972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Compute Path Loss, Received Power (dBm), and SNR considering shadowing.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375600" y="3915816"/>
            <a:ext cx="29971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Shannon Capacity between an Ideal Channel and a Rayleigh Fading Channel.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44222" y="3572916"/>
            <a:ext cx="314695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User Deployment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4522369" y="3572916"/>
            <a:ext cx="31471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Link Budget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300672" y="3572916"/>
            <a:ext cx="314695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Performance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658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6"/>
          <p:cNvGraphicFramePr/>
          <p:nvPr/>
        </p:nvGraphicFramePr>
        <p:xfrm>
          <a:off x="571500" y="2290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{527403AD-6050-4A34-94DD-E68790E41904}</a:tableStyleId>
              </a:tblPr>
              <a:tblGrid>
                <a:gridCol w="3445375"/>
                <a:gridCol w="3021050"/>
                <a:gridCol w="4582575"/>
              </a:tblGrid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Frequency (fc)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GHz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Carrier Frequency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Bandwidth (BW)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 MHz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Bandwidth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Transmit Power (Pt)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46 dBm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Station Power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Antenna Gains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Gt: 15dB, Gr: 0dB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Transmitter/Receiver Gains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Environment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alpha: 3.5, σ: 8dB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Path Loss Exp &amp; Shadowing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Noise Temp (T0)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290 K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Temperature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6"/>
          <p:cNvSpPr/>
          <p:nvPr/>
        </p:nvSpPr>
        <p:spPr>
          <a:xfrm>
            <a:off x="571500" y="32480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016871" y="32480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037933" y="32480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71500" y="37433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016871" y="37433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7037933" y="37433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571500" y="42386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4016871" y="42386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7037933" y="42386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71500" y="47339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4016871" y="47339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7037933" y="47339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571500" y="52292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4016871" y="52292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7037933" y="52292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71500" y="5724525"/>
            <a:ext cx="344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4016871" y="5724525"/>
            <a:ext cx="30210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7037933" y="5724525"/>
            <a:ext cx="45825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Parameters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25" y="3614725"/>
            <a:ext cx="2381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5925" y="3614737"/>
            <a:ext cx="23812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8525" y="3081323"/>
            <a:ext cx="2381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8525" y="4014772"/>
            <a:ext cx="2381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2225" y="3214687"/>
            <a:ext cx="23812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2225" y="3957625"/>
            <a:ext cx="23812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765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02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439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1128712" y="3957637"/>
            <a:ext cx="1133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(Freq, Power, Users)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0072687" y="3957637"/>
            <a:ext cx="847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(Plots &amp; Tables)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4100512" y="3557587"/>
            <a:ext cx="10572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(Polar Coordinates)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3948112" y="4357687"/>
            <a:ext cx="13620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(Path Loss + Shadowing)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7143750" y="3557587"/>
            <a:ext cx="838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(Capacity Calc)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010400" y="4357687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(Dynamic SNR Calc)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Data Flow Diagram (DFD)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97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571500" y="24955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729740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Polar to Cartesian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2386965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Distance from Base Station (0,0)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2939415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809625" y="29432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a circular coverage area with radius R = 200m.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809625" y="3695700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N=10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at random angles and radial distances.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809625" y="44481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 Polar coordinates to Cartesian for plotting.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09625" y="48958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Calculate Euclidean distance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Path Loss.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571500" y="28956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571500" y="36480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571500" y="44005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71500" y="48482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Module 1: User Deployment</a:t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18"/>
          <p:cNvPicPr preferRelativeResize="0"/>
          <p:nvPr/>
        </p:nvPicPr>
        <p:blipFill rotWithShape="1">
          <a:blip r:embed="rId4">
            <a:alphaModFix/>
          </a:blip>
          <a:srcRect b="2486" l="0" r="39591" t="0"/>
          <a:stretch/>
        </p:blipFill>
        <p:spPr>
          <a:xfrm>
            <a:off x="6915225" y="1897225"/>
            <a:ext cx="4581275" cy="37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7061050" y="2262225"/>
            <a:ext cx="4134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R = 200; N = 10;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i = 1 to N: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angle = random(0, 2*pi)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radius = R * sqrt(random(0, 1))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Polar to Cartesian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x = radius * cos(angle)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y = radius * sin(angle)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Distance from Base Station (0,0)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d[i] = sqrt(x^2 + y^2)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3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4">
            <a:alphaModFix/>
          </a:blip>
          <a:srcRect b="2486" l="0" r="39591" t="0"/>
          <a:stretch/>
        </p:blipFill>
        <p:spPr>
          <a:xfrm>
            <a:off x="571500" y="1838475"/>
            <a:ext cx="4581275" cy="38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6296025" y="3819525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Log-Distance Path Loss + Shadowing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4201775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Received Power (dBm)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22202775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Noise Power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26298525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Signal to Noise Ratio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30680025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31727775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END FUNCTION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6334125" y="2602259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Formulas: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572250" y="3049934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Loss includes a random shadowing component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sigma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572250" y="380240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Thermal Noise is derived from Boltzmann constant and Temperature.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572250" y="4554884"/>
            <a:ext cx="5048250" cy="538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Shannon Capacity: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 C   =   BW   ×    log   2   (  1  +  SNR  )  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6334125" y="3002309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334125" y="3754784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6334125" y="4507259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Module 2: Link Budget &amp; Capacity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729050" y="2001800"/>
            <a:ext cx="4213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Channel Model Function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FUNCTION</a:t>
            </a: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Calc_LinkBudget(Pt, d):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b="1"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Log-Distance Path Loss + Shadowing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PL = PL_0 + 10*alpha*log10(d) + Random(sigma)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b="1"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Received Power (dBm)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Pr_dBm = Pt_dBm + Gt + Gr - PL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Pr_Watt = 10^((Pr_dBm-30)/10)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b="1"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Noise Power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Noise = k * Temp * Bandwidth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b="1"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Signal to Noise Ratio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SNR = Pr_Watt / Noise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b="1" lang="en-US" sz="12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SNR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END FUNCTION</a:t>
            </a:r>
            <a:endParaRPr b="1"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4">
            <a:alphaModFix/>
          </a:blip>
          <a:srcRect b="35022" l="0" r="55779" t="0"/>
          <a:stretch/>
        </p:blipFill>
        <p:spPr>
          <a:xfrm>
            <a:off x="6843350" y="1699963"/>
            <a:ext cx="4450725" cy="44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571500" y="24955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439150" y="3819525"/>
            <a:ext cx="7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2015490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Fading Channel Power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2453640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Modified SNR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2977515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Calculate New Capacity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6252150" y="3819525"/>
            <a:ext cx="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09625" y="294322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multipath effects using a complex Gaussian random variable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09625" y="36957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envelope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|h|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follows a Rayleigh distribution.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09625" y="41433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fading power modifies the static SNR.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09625" y="4591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results in a "fluctuating" capacity compared to the static model.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71500" y="28956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71500" y="36480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71500" y="40957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71500" y="45434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Module 3: Rayleigh Fading</a:t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7042213" y="1899075"/>
            <a:ext cx="4053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Fading Simulation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 EACH</a:t>
            </a: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user: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Generate Complex Gaussian Coefficient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h_real = randn()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h_imag = randn()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h = (h_real + j*h_imag) / sqrt(2)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Fading Channel Power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Fading_Gain = abs(h)^2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Modified SNR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SNR_Rayleigh = SNR_Static * Fading_Gain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2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Calculate New Capacity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Cap_Rayleigh = BW * log2(1 + SNR_Rayleigh)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 FOR</a:t>
            </a:r>
            <a:endParaRPr sz="120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Process Workflow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1" title="Screenshot 2025-11-23 at 3.26.18 PM.png"/>
          <p:cNvPicPr preferRelativeResize="0"/>
          <p:nvPr/>
        </p:nvPicPr>
        <p:blipFill rotWithShape="1">
          <a:blip r:embed="rId4">
            <a:alphaModFix/>
          </a:blip>
          <a:srcRect b="0" l="-960" r="960" t="0"/>
          <a:stretch/>
        </p:blipFill>
        <p:spPr>
          <a:xfrm>
            <a:off x="259500" y="1939790"/>
            <a:ext cx="10342601" cy="805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title="Screenshot 2025-11-23 at 3.26.4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3562" y="3406188"/>
            <a:ext cx="9668575" cy="10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title="Screenshot 2025-11-23 at 3.26.5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3600" y="5074325"/>
            <a:ext cx="9728500" cy="7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/>
          <p:nvPr/>
        </p:nvSpPr>
        <p:spPr>
          <a:xfrm>
            <a:off x="481925" y="2075925"/>
            <a:ext cx="11034575" cy="1878225"/>
          </a:xfrm>
          <a:custGeom>
            <a:rect b="b" l="l" r="r" t="t"/>
            <a:pathLst>
              <a:path extrusionOk="0" h="75129" w="441383">
                <a:moveTo>
                  <a:pt x="409255" y="1483"/>
                </a:moveTo>
                <a:lnTo>
                  <a:pt x="441383" y="0"/>
                </a:lnTo>
                <a:lnTo>
                  <a:pt x="441383" y="35094"/>
                </a:lnTo>
                <a:lnTo>
                  <a:pt x="0" y="40036"/>
                </a:lnTo>
                <a:lnTo>
                  <a:pt x="988" y="75129"/>
                </a:lnTo>
                <a:lnTo>
                  <a:pt x="19276" y="74141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5" name="Google Shape;295;p21"/>
          <p:cNvSpPr/>
          <p:nvPr/>
        </p:nvSpPr>
        <p:spPr>
          <a:xfrm>
            <a:off x="494275" y="3867675"/>
            <a:ext cx="11133425" cy="1668150"/>
          </a:xfrm>
          <a:custGeom>
            <a:rect b="b" l="l" r="r" t="t"/>
            <a:pathLst>
              <a:path extrusionOk="0" h="66726" w="445337">
                <a:moveTo>
                  <a:pt x="403324" y="1482"/>
                </a:moveTo>
                <a:lnTo>
                  <a:pt x="445337" y="0"/>
                </a:lnTo>
                <a:lnTo>
                  <a:pt x="445337" y="39047"/>
                </a:lnTo>
                <a:lnTo>
                  <a:pt x="494" y="38553"/>
                </a:lnTo>
                <a:lnTo>
                  <a:pt x="0" y="66726"/>
                </a:lnTo>
                <a:lnTo>
                  <a:pt x="16311" y="66232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2" title="Screenshot 2025-11-23 at 3.26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750" y="567950"/>
            <a:ext cx="2309325" cy="52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title="Screenshot 2025-11-23 at 3.25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600" y="123550"/>
            <a:ext cx="2146625" cy="633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1376"/>
            <a:ext cx="3492400" cy="2480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41376"/>
            <a:ext cx="3492549" cy="2480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41376"/>
            <a:ext cx="3492400" cy="248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 txBox="1"/>
          <p:nvPr/>
        </p:nvSpPr>
        <p:spPr>
          <a:xfrm>
            <a:off x="571500" y="5207198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"Coherence time ($T_c$) was calculated around ~2ms to ~22ms depending on user velocity (1-25 m/s)." </a:t>
            </a:r>
            <a:endParaRPr/>
          </a:p>
        </p:txBody>
      </p:sp>
      <p:pic>
        <p:nvPicPr>
          <p:cNvPr descr="image.png" id="311" name="Google Shape;31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68902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3"/>
          <p:cNvSpPr txBox="1"/>
          <p:nvPr/>
        </p:nvSpPr>
        <p:spPr>
          <a:xfrm>
            <a:off x="819150" y="3555801"/>
            <a:ext cx="29971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Ranged between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104 dB to 131 dB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Highly dependent on the random shadowing factor ($\sigma = 8dB$) and distance.</a:t>
            </a:r>
            <a:endParaRPr/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163" y="268902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4597300" y="3555801"/>
            <a:ext cx="29972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Linear SNR varied drastically ($~0.2$ to $~10$). Users closer to the Base Station did not always have the best SNR due to shadowing.</a:t>
            </a:r>
            <a:endParaRPr/>
          </a:p>
        </p:txBody>
      </p:sp>
      <p:pic>
        <p:nvPicPr>
          <p:cNvPr descr="image.png" id="315" name="Google Shape;31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025" y="268902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8375600" y="3555801"/>
            <a:ext cx="29971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Rayleigh fading introduced randomness. In some instances, fading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increased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capacity (constructive), but mostly caused fluctuations.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 &amp; Analysis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744222" y="3212901"/>
            <a:ext cx="314695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Path Loss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4522369" y="3212901"/>
            <a:ext cx="31471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SNR Levels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8300672" y="3212901"/>
            <a:ext cx="314695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Capacity Drop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/>
        </p:nvSpPr>
        <p:spPr>
          <a:xfrm>
            <a:off x="251600" y="312700"/>
            <a:ext cx="48345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b="1"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7" name="Google Shape;3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25" y="1049500"/>
            <a:ext cx="5113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500" y="312700"/>
            <a:ext cx="5368500" cy="28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3200" y="3633875"/>
            <a:ext cx="5584176" cy="28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