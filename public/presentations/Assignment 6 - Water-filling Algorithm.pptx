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Fira Code" panose="020B0809050000020004" pitchFamily="49" charset="0"/>
      <p:regular r:id="rId15"/>
      <p:bold r:id=""/>
    </p:embeddedFont>
    <p:embeddedFont>
      <p:font typeface="Inter" panose="02000503000000020004" pitchFamily="2" charset="0"/>
      <p:regular r:id=""/>
      <p:bold r:id=""/>
      <p:italic r:id=""/>
      <p:boldItalic r:id="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itchFamily="2" charset="77"/>
      <p:regular r:id="rId20"/>
      <p:bold r:id=""/>
      <p:italic r:id="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1EED62-FC72-4816-AE51-77CF72354D57}">
  <a:tblStyle styleId="{6C1EED62-FC72-4816-AE51-77CF72354D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11"/>
  </p:normalViewPr>
  <p:slideViewPr>
    <p:cSldViewPr snapToGrid="0">
      <p:cViewPr varScale="1">
        <p:scale>
          <a:sx n="109" d="100"/>
          <a:sy n="109" d="100"/>
        </p:scale>
        <p:origin x="5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8ec5c37d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8ec5c37d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8ec5c37d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8ec5c37d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5248275" y="1715541"/>
            <a:ext cx="1695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ASSIGNMENT 6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1160383" y="2163216"/>
            <a:ext cx="9871233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Channel Capacity Optimization: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Water-filling Algorithm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571500" y="21907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a frequency-selective fading channel, signal attenuation varies across different subchannels.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571500" y="29432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Goal: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809625" y="33909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MATLAB simulation to maximize the total capacity of a wireless channel.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09625" y="41433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Water-filling Algorithm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optimal power allocation.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809625" y="48958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Distribute a fixed power budget ($P_t$) across $N$ subchannels based on their channel gains ($|h|^2$).</a:t>
            </a:r>
            <a:endParaRPr/>
          </a:p>
        </p:txBody>
      </p:sp>
      <p:pic>
        <p:nvPicPr>
          <p:cNvPr id="148" name="Google Shape;14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1062" y="314042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7705725" y="4311997"/>
            <a:ext cx="2543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Maximize Rate vs Power Constraint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571500" y="33432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571500" y="40957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571500" y="48482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7642145" y="4092922"/>
            <a:ext cx="267033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Optimal Allocation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809625" y="33718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Simulate a Rayleigh fading channel with multiple subchannels.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09625" y="4124325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Compute the "Water Level" (mu) derived from Lagrange multipliers.</a:t>
            </a:r>
            <a:endParaRPr dirty="0"/>
          </a:p>
        </p:txBody>
      </p:sp>
      <p:sp>
        <p:nvSpPr>
          <p:cNvPr id="163" name="Google Shape;163;p15"/>
          <p:cNvSpPr txBox="1"/>
          <p:nvPr/>
        </p:nvSpPr>
        <p:spPr>
          <a:xfrm>
            <a:off x="6572250" y="3524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Water-filling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(Optimal) vs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Uniform Power Allocation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(Equal power to all).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572250" y="42767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 the Spectral Efficiency (bits/s/Hz).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571500" y="33242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571500" y="40767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334125" y="34766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334125" y="42291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571500" y="29622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Implementation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6334125" y="31146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Comparison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0225" y="3595687"/>
            <a:ext cx="1905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4275" y="3500437"/>
            <a:ext cx="2095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2225" y="3500437"/>
            <a:ext cx="2095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20175" y="3595687"/>
            <a:ext cx="1905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6232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027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5822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1562100" y="3938587"/>
            <a:ext cx="13144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($N_{ch}, P_t, N_0$)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4076700" y="3843337"/>
            <a:ext cx="139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(Calc Gains g, Sort Descending)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715125" y="3843337"/>
            <a:ext cx="1409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(Find mu, Allocate P_i)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9439275" y="3938587"/>
            <a:ext cx="106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(Capacity, Plots)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Data Flow Diagram (DFD)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6" title="Screenshot 2025-11-23 at 12.35.01 PM.png"/>
          <p:cNvPicPr preferRelativeResize="0"/>
          <p:nvPr/>
        </p:nvPicPr>
        <p:blipFill rotWithShape="1">
          <a:blip r:embed="rId9">
            <a:alphaModFix/>
          </a:blip>
          <a:srcRect r="1719"/>
          <a:stretch/>
        </p:blipFill>
        <p:spPr>
          <a:xfrm>
            <a:off x="0" y="2020400"/>
            <a:ext cx="12192002" cy="297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88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4">
            <a:alphaModFix/>
          </a:blip>
          <a:srcRect t="10112" b="3747"/>
          <a:stretch/>
        </p:blipFill>
        <p:spPr>
          <a:xfrm>
            <a:off x="6334125" y="2038875"/>
            <a:ext cx="5286375" cy="407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71500" y="26765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Initialize system parameters and generate random Rayleigh fading coefficients. Compute channel-to-noise ratios (CNR).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189642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Sort Gains (Descending)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2145030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Critical for finding cutoff threshold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809625" y="3733800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Generate complex Gaussian h.</a:t>
            </a:r>
            <a:endParaRPr dirty="0"/>
          </a:p>
        </p:txBody>
      </p:sp>
      <p:sp>
        <p:nvSpPr>
          <p:cNvPr id="202" name="Google Shape;202;p17"/>
          <p:cNvSpPr txBox="1"/>
          <p:nvPr/>
        </p:nvSpPr>
        <p:spPr>
          <a:xfrm>
            <a:off x="809625" y="4181475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Compute power gain g = |h|^2.</a:t>
            </a:r>
            <a:endParaRPr dirty="0"/>
          </a:p>
        </p:txBody>
      </p:sp>
      <p:sp>
        <p:nvSpPr>
          <p:cNvPr id="203" name="Google Shape;203;p17"/>
          <p:cNvSpPr txBox="1"/>
          <p:nvPr/>
        </p:nvSpPr>
        <p:spPr>
          <a:xfrm>
            <a:off x="809625" y="46291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Sort gains to simplify the water-filling logic (Strongest first).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571500" y="36861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571500" y="41338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571500" y="45815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Initialization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571500" y="24574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1: Channel Setup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549075" y="2368275"/>
            <a:ext cx="4683300" cy="24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1. Initialize Parameters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Nch = 6;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Pt = 5; 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N0 = 1;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2. Generate Channel Gains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h = (randn(1, Nch) + 1j*randn(1, Nch)) / sqrt(2);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g = abs(h).^2;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Sort Gains (Descending)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Critical for finding cutoff threshold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[g_sorted, idx] = sort(g/N0, 'descend');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4">
            <a:alphaModFix/>
          </a:blip>
          <a:srcRect t="10273"/>
          <a:stretch/>
        </p:blipFill>
        <p:spPr>
          <a:xfrm>
            <a:off x="359850" y="1925700"/>
            <a:ext cx="5974275" cy="42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12001500" y="1752600"/>
            <a:ext cx="1905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a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508760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97167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Found cutoff k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211740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IF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217741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224599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5. Allocate Power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261461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306038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312896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6. Calculate Total Capacity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334125" y="2852737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The Waterfilling Algorithm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6334125" y="2681287"/>
            <a:ext cx="555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877350" y="2054575"/>
            <a:ext cx="43371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Iterative Water Level Finding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k = 1 to Nch: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Calculate potential water level mu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mu = (Pt + sum(1 ./ g_sorted(1:k))) / k;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Check if next channel is too weak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(k &lt; Nch) AND (mu &lt;= 1/g_sorted(k+1)):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    BREAK loop; </a:t>
            </a: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Found cutoff k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IF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5. Allocate Power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P_opt = zeros(1, Nch);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i = 1 to k: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P_opt(idx(i)) = mu - 1/g_sorted(i);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6. Calculate Total Capacity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C = sum(log2(1 + P_opt .* g / N0));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/>
        </p:nvSpPr>
        <p:spPr>
          <a:xfrm>
            <a:off x="938650" y="239000"/>
            <a:ext cx="8174100" cy="6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Start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Set number of channels Nch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Set total power Pt and noise N0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Generate Rayleigh fading channel h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Compute power gains g = |h|²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--- Uniform Allocation ---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Divide total power equally across channels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Compute uniform capacity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--- Water-Filling Allocation ---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Sort channel gains in descending order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Find water level μ using iterative condition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Compute optimal power P_opt = μ − 1/g for active channels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Compute water-filling capacity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Display cutoff SNR, optimal power, capacities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Plot water-filling vs uniform power levels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Plot water level line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Plot bar chart comparing capacities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End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047525" y="907475"/>
            <a:ext cx="4728000" cy="1880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C4043"/>
                </a:solidFill>
              </a:rPr>
              <a:t>Comparison between Uniformly Distributed and Waterfilling Pseudocode:</a:t>
            </a:r>
            <a:endParaRPr sz="2400" b="1">
              <a:solidFill>
                <a:srgbClr val="3C40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1">
              <a:solidFill>
                <a:srgbClr val="3C40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0" descr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Process Workflow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0" title="Screenshot 2025-11-23 at 12.43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68973"/>
            <a:ext cx="12192001" cy="28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28289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 seen in the simulation output: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09625" y="32766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Strong channels received significantly more power (e.g., 1.6W, 1.36W).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09625" y="40290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Weak channels (Index 3 and 4) received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 Watts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because their inverse gain was above the water level.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09625" y="4781550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Cutoff SNR (1/\mu):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Calculated as ~0.4612.</a:t>
            </a:r>
            <a:endParaRPr dirty="0"/>
          </a:p>
        </p:txBody>
      </p:sp>
      <p:sp>
        <p:nvSpPr>
          <p:cNvPr id="254" name="Google Shape;254;p21"/>
          <p:cNvSpPr/>
          <p:nvPr/>
        </p:nvSpPr>
        <p:spPr>
          <a:xfrm>
            <a:off x="8653462" y="5009257"/>
            <a:ext cx="285750" cy="1905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9034462" y="5009257"/>
            <a:ext cx="285750" cy="1905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71500" y="32289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571500" y="39814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71500" y="47339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Simulation Results</a:t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71500" y="26098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Power Allocation</a:t>
            </a:r>
            <a:endParaRPr/>
          </a:p>
        </p:txBody>
      </p:sp>
      <p:pic>
        <p:nvPicPr>
          <p:cNvPr id="262" name="Google Shape;26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288" y="1861375"/>
            <a:ext cx="6084076" cy="38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825" y="479500"/>
            <a:ext cx="10086975" cy="39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3" name="Google Shape;273;p23"/>
          <p:cNvGraphicFramePr/>
          <p:nvPr/>
        </p:nvGraphicFramePr>
        <p:xfrm>
          <a:off x="571500" y="2009775"/>
          <a:ext cx="5286350" cy="1466850"/>
        </p:xfrm>
        <a:graphic>
          <a:graphicData uri="http://schemas.openxmlformats.org/drawingml/2006/table">
            <a:tbl>
              <a:tblPr firstRow="1" bandRow="1">
                <a:noFill/>
                <a:tableStyleId>{6C1EED62-FC72-4816-AE51-77CF72354D57}</a:tableStyleId>
              </a:tblPr>
              <a:tblGrid>
                <a:gridCol w="26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Capacity (bits/s/Hz)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Water-filling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5.4176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Uniform Allocation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4.5859</a:t>
                      </a:r>
                      <a:endParaRPr>
                        <a:solidFill>
                          <a:srgbClr val="CC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4" name="Google Shape;274;p23"/>
          <p:cNvSpPr txBox="1"/>
          <p:nvPr/>
        </p:nvSpPr>
        <p:spPr>
          <a:xfrm>
            <a:off x="809625" y="39814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Water-filling algorithm successfully maximizes theoretical capacity.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09625" y="47339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sacrificing weak channels, we gain significant throughput in strong channels.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09625" y="5486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outperforms uniform allocation by approx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18%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this scenario.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71500" y="2967037"/>
            <a:ext cx="26431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214687" y="2967037"/>
            <a:ext cx="26431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71500" y="3462337"/>
            <a:ext cx="26431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3214687" y="3462337"/>
            <a:ext cx="26431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571500" y="39338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71500" y="46863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71500" y="54387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Comparison &amp; Conclusion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571500" y="16002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Capacity Comparison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571500" y="37623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571500" y="24145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algorithm is foundational for modern systems. Future enhancements include: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809625" y="3167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MIMO Systems: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Applying water-filling to spatial eigenmodes (Singular Value Decomposition).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809625" y="39195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OFDM: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Used in 4G/5G to allocate power across thousands of subcarriers.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809625" y="46720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CSI: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Adapting to fast-changing Channel State Information in high-mobility scenarios.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571500" y="31194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571500" y="38719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571500" y="46243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Macintosh PowerPoint</Application>
  <PresentationFormat>Widescreen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Montserrat</vt:lpstr>
      <vt:lpstr>Calibri</vt:lpstr>
      <vt:lpstr>Lato</vt:lpstr>
      <vt:lpstr>Fira Code</vt:lpstr>
      <vt:lpstr>Inter</vt:lpstr>
      <vt:lpstr>Arial</vt:lpstr>
      <vt:lpstr>Times New Roman</vt:lpstr>
      <vt:lpstr>Focus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LAHAR  JOSHI</cp:lastModifiedBy>
  <cp:revision>1</cp:revision>
  <dcterms:modified xsi:type="dcterms:W3CDTF">2025-11-23T09:48:20Z</dcterms:modified>
</cp:coreProperties>
</file>